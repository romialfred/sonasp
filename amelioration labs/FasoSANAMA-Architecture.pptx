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NATIONALE · PLATEFORME FASO SANAMA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chaîne numérique unique, de la mine à la décision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algn="ctr" indent="0" marL="0">
              <a:buNone/>
            </a:pPr>
            <a:r>
              <a:rPr lang="en-US" sz="1100" b="1" spc="150" kern="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38144" y="1572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ctr" indent="0" marL="0">
              <a:buNone/>
            </a:pPr>
            <a:r>
              <a:rPr lang="en-US" sz="1100" b="1" spc="150" kern="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56248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ctr" indent="0" marL="0">
              <a:buNone/>
            </a:pPr>
            <a:r>
              <a:rPr lang="en-US" sz="1100" b="1" spc="150" kern="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0859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ctr" indent="0" marL="0">
              <a:buNone/>
            </a:pPr>
            <a:r>
              <a:rPr lang="en-US" sz="1100" b="1" spc="150" kern="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48840"/>
            <a:ext cx="603504" cy="603504"/>
          </a:xfrm>
          <a:prstGeom prst="ellipse">
            <a:avLst/>
          </a:prstGeom>
          <a:solidFill>
            <a:srgbClr val="10976B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536" y="2323856"/>
            <a:ext cx="253472" cy="253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21671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Mines industrielles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" y="286207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9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WEB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9808" y="3099816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journalière · Exportations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4069080"/>
            <a:ext cx="603504" cy="603504"/>
          </a:xfrm>
          <a:prstGeom prst="ellipse">
            <a:avLst/>
          </a:prstGeom>
          <a:solidFill>
            <a:srgbClr val="D79A00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36" y="4244096"/>
            <a:ext cx="253472" cy="253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40873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Mines artisanales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49808" y="47823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 DURCIE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49808" y="5020056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terrain · Mode hors-ligne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438144" y="196596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0C1F17"/>
          </a:solidFill>
          <a:ln/>
          <a:effectLst>
            <a:outerShdw sx="100000" sy="100000" kx="0" ky="0" algn="bl" rotWithShape="0" blurRad="114300" dist="38100" dir="5400000">
              <a:srgbClr val="0A140F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29684" y="2221992"/>
            <a:ext cx="914400" cy="914400"/>
          </a:xfrm>
          <a:prstGeom prst="ellipse">
            <a:avLst/>
          </a:prstGeom>
          <a:solidFill>
            <a:srgbClr val="D79A00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0" y="248716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29584" y="3246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SONASP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3529584" y="3657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NATIONAL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822192" y="4114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&amp; contrôle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des flux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ventes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&amp; taxes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556248" y="1965960"/>
            <a:ext cx="2331720" cy="3611880"/>
          </a:xfrm>
          <a:prstGeom prst="roundRect">
            <a:avLst>
              <a:gd name="adj" fmla="val 4314"/>
            </a:avLst>
          </a:prstGeom>
          <a:solidFill>
            <a:srgbClr val="FBFCFB"/>
          </a:solidFill>
          <a:ln w="1778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0628" y="2221992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86" y="2460650"/>
            <a:ext cx="345643" cy="34564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65976" y="3154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Entrepôt national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647688" y="374904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CONSOLIDÉES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6922008" y="41148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&amp; redevances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308592" y="1965960"/>
            <a:ext cx="2331720" cy="3611880"/>
          </a:xfrm>
          <a:prstGeom prst="roundRect">
            <a:avLst>
              <a:gd name="adj" fmla="val 4314"/>
            </a:avLst>
          </a:prstGeom>
          <a:solidFill>
            <a:srgbClr val="FBFCFB"/>
          </a:solidFill>
          <a:ln w="1778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9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062972" y="2221992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630" y="2460650"/>
            <a:ext cx="345643" cy="34564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418320" y="31546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Décisionnel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9400032" y="374904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NATIONAL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9674352" y="41148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nationaux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3017520" y="2811780"/>
            <a:ext cx="393192" cy="0"/>
          </a:xfrm>
          <a:prstGeom prst="line">
            <a:avLst/>
          </a:prstGeom>
          <a:noFill/>
          <a:ln w="33020">
            <a:solidFill>
              <a:srgbClr val="D79A00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3017520" y="4732020"/>
            <a:ext cx="393192" cy="0"/>
          </a:xfrm>
          <a:prstGeom prst="line">
            <a:avLst/>
          </a:prstGeom>
          <a:noFill/>
          <a:ln w="33020">
            <a:solidFill>
              <a:srgbClr val="D79A00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6135624" y="3771900"/>
            <a:ext cx="393192" cy="0"/>
          </a:xfrm>
          <a:prstGeom prst="line">
            <a:avLst/>
          </a:prstGeom>
          <a:noFill/>
          <a:ln w="33020">
            <a:solidFill>
              <a:srgbClr val="D79A00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8887968" y="3771900"/>
            <a:ext cx="393192" cy="0"/>
          </a:xfrm>
          <a:prstGeom prst="line">
            <a:avLst/>
          </a:prstGeom>
          <a:noFill/>
          <a:ln w="33020">
            <a:solidFill>
              <a:srgbClr val="D79A00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0C1F17"/>
          </a:solidFill>
          <a:ln/>
        </p:spPr>
      </p:sp>
      <p:sp>
        <p:nvSpPr>
          <p:cNvPr id="43" name="Text 36"/>
          <p:cNvSpPr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</a:t>
            </a:r>
            <a:endParaRPr lang="en-US" sz="95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5888736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212848" y="580644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1678" y="5888736"/>
            <a:ext cx="292608" cy="29260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665726" y="580644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1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4556" y="5888736"/>
            <a:ext cx="292608" cy="29260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118604" y="580644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</a:t>
            </a:r>
            <a:endParaRPr lang="en-US" sz="11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7434" y="5888736"/>
            <a:ext cx="292608" cy="29260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9571482" y="580644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habilitations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 SANAMA · plateforme nationale opérée par la SONASP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1115568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 DE DONNÉES NATIONAL · DÉCISIONNEL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Toutes les données du secteur, consolidées pour décider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source unique de vérité : production, ventes, taxes, licences, stocks et cours.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83664"/>
            <a:ext cx="384048" cy="384048"/>
          </a:xfrm>
          <a:prstGeom prst="ellipse">
            <a:avLst/>
          </a:prstGeom>
          <a:solidFill>
            <a:srgbClr val="1097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886" y="1995038"/>
            <a:ext cx="161300" cy="161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8105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industrielle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" y="2523744"/>
            <a:ext cx="384048" cy="384048"/>
          </a:xfrm>
          <a:prstGeom prst="ellipse">
            <a:avLst/>
          </a:prstGeom>
          <a:solidFill>
            <a:srgbClr val="109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86" y="2635118"/>
            <a:ext cx="161300" cy="161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4505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artisanale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9067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7512" y="3163824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86" y="3275198"/>
            <a:ext cx="161300" cy="161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7008" y="30906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d’or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73075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67512" y="3803904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86" y="3915278"/>
            <a:ext cx="161300" cy="161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373075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&amp; redevances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37083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7512" y="4443984"/>
            <a:ext cx="384048" cy="384048"/>
          </a:xfrm>
          <a:prstGeom prst="ellipse">
            <a:avLst/>
          </a:prstGeom>
          <a:solidFill>
            <a:srgbClr val="2F6FE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886" y="4555358"/>
            <a:ext cx="161300" cy="161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07008" y="43708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d’exportation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01091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67512" y="5084064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886" y="5195438"/>
            <a:ext cx="161300" cy="161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07008" y="5010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or &amp; argent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48640" y="565099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67512" y="5724144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886" y="5835518"/>
            <a:ext cx="161300" cy="1613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07008" y="56509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&amp; taux de change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023360" y="2148840"/>
            <a:ext cx="2651760" cy="3291840"/>
          </a:xfrm>
          <a:prstGeom prst="roundRect">
            <a:avLst>
              <a:gd name="adj" fmla="val 4828"/>
            </a:avLst>
          </a:prstGeom>
          <a:solidFill>
            <a:srgbClr val="0C1F17"/>
          </a:solidFill>
          <a:ln/>
          <a:effectLst>
            <a:outerShdw sx="100000" sy="100000" kx="0" ky="0" algn="bl" rotWithShape="0" blurRad="127000" dist="38100" dir="5400000">
              <a:srgbClr val="0A140F">
                <a:alpha val="2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846320" y="2496312"/>
            <a:ext cx="1005840" cy="1005840"/>
          </a:xfrm>
          <a:prstGeom prst="ellipse">
            <a:avLst/>
          </a:prstGeom>
          <a:solidFill>
            <a:srgbClr val="D79A00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014" y="2788006"/>
            <a:ext cx="422453" cy="42245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25196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Entrepôt de données national</a:t>
            </a:r>
            <a:endParaRPr lang="en-US" sz="1700" dirty="0"/>
          </a:p>
        </p:txBody>
      </p:sp>
      <p:sp>
        <p:nvSpPr>
          <p:cNvPr id="37" name="Text 27"/>
          <p:cNvSpPr/>
          <p:nvPr/>
        </p:nvSpPr>
        <p:spPr>
          <a:xfrm>
            <a:off x="420624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unifié · Historisé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420624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Gouverné · Sécurisé · Souverain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7178040" y="1874520"/>
            <a:ext cx="4462272" cy="914400"/>
          </a:xfrm>
          <a:prstGeom prst="roundRect">
            <a:avLst>
              <a:gd name="adj" fmla="val 10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8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7379208" y="2029968"/>
            <a:ext cx="603504" cy="603504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4224" y="2204984"/>
            <a:ext cx="253472" cy="25347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8138160" y="201168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Tableaux de bord nationaux</a:t>
            </a:r>
            <a:endParaRPr lang="en-US" sz="1350" dirty="0"/>
          </a:p>
        </p:txBody>
      </p:sp>
      <p:sp>
        <p:nvSpPr>
          <p:cNvPr id="43" name="Text 32"/>
          <p:cNvSpPr/>
          <p:nvPr/>
        </p:nvSpPr>
        <p:spPr>
          <a:xfrm>
            <a:off x="8138160" y="23317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ventes, stocks et taxes en temps réel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7178040" y="2935224"/>
            <a:ext cx="4462272" cy="914400"/>
          </a:xfrm>
          <a:prstGeom prst="roundRect">
            <a:avLst>
              <a:gd name="adj" fmla="val 10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8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7379208" y="3090672"/>
            <a:ext cx="603504" cy="603504"/>
          </a:xfrm>
          <a:prstGeom prst="ellipse">
            <a:avLst/>
          </a:prstGeom>
          <a:solidFill>
            <a:srgbClr val="2F6FEC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4224" y="3265688"/>
            <a:ext cx="253472" cy="253472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138160" y="307238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institutionnels</a:t>
            </a:r>
            <a:endParaRPr lang="en-US" sz="1350" dirty="0"/>
          </a:p>
        </p:txBody>
      </p:sp>
      <p:sp>
        <p:nvSpPr>
          <p:cNvPr id="48" name="Text 36"/>
          <p:cNvSpPr/>
          <p:nvPr/>
        </p:nvSpPr>
        <p:spPr>
          <a:xfrm>
            <a:off x="8138160" y="3392424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Éditions prêtes pour les tutelles et partenaires</a:t>
            </a:r>
            <a:endParaRPr lang="en-US" sz="1050" dirty="0"/>
          </a:p>
        </p:txBody>
      </p:sp>
      <p:sp>
        <p:nvSpPr>
          <p:cNvPr id="49" name="Shape 37"/>
          <p:cNvSpPr/>
          <p:nvPr/>
        </p:nvSpPr>
        <p:spPr>
          <a:xfrm>
            <a:off x="7178040" y="3995928"/>
            <a:ext cx="4462272" cy="914400"/>
          </a:xfrm>
          <a:prstGeom prst="roundRect">
            <a:avLst>
              <a:gd name="adj" fmla="val 10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8000"/>
              </a:srgbClr>
            </a:outerShdw>
          </a:effectLst>
        </p:spPr>
      </p:sp>
      <p:sp>
        <p:nvSpPr>
          <p:cNvPr id="50" name="Shape 38"/>
          <p:cNvSpPr/>
          <p:nvPr/>
        </p:nvSpPr>
        <p:spPr>
          <a:xfrm>
            <a:off x="7379208" y="4151376"/>
            <a:ext cx="603504" cy="603504"/>
          </a:xfrm>
          <a:prstGeom prst="ellipse">
            <a:avLst/>
          </a:prstGeom>
          <a:solidFill>
            <a:srgbClr val="D79A00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4224" y="4326392"/>
            <a:ext cx="253472" cy="253472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8138160" y="413308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Pilotage &amp; prévisions</a:t>
            </a:r>
            <a:endParaRPr lang="en-US" sz="1350" dirty="0"/>
          </a:p>
        </p:txBody>
      </p:sp>
      <p:sp>
        <p:nvSpPr>
          <p:cNvPr id="53" name="Text 40"/>
          <p:cNvSpPr/>
          <p:nvPr/>
        </p:nvSpPr>
        <p:spPr>
          <a:xfrm>
            <a:off x="8138160" y="4453128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écarts et projections de la filière</a:t>
            </a:r>
            <a:endParaRPr lang="en-US" sz="1050" dirty="0"/>
          </a:p>
        </p:txBody>
      </p:sp>
      <p:sp>
        <p:nvSpPr>
          <p:cNvPr id="54" name="Shape 41"/>
          <p:cNvSpPr/>
          <p:nvPr/>
        </p:nvSpPr>
        <p:spPr>
          <a:xfrm>
            <a:off x="7178040" y="5056632"/>
            <a:ext cx="4462272" cy="914400"/>
          </a:xfrm>
          <a:prstGeom prst="roundRect">
            <a:avLst>
              <a:gd name="adj" fmla="val 10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25400" dir="5400000">
              <a:srgbClr val="0A140F">
                <a:alpha val="8000"/>
              </a:srgbClr>
            </a:outerShdw>
          </a:effectLst>
        </p:spPr>
      </p:sp>
      <p:sp>
        <p:nvSpPr>
          <p:cNvPr id="55" name="Shape 42"/>
          <p:cNvSpPr/>
          <p:nvPr/>
        </p:nvSpPr>
        <p:spPr>
          <a:xfrm>
            <a:off x="7379208" y="5212080"/>
            <a:ext cx="603504" cy="603504"/>
          </a:xfrm>
          <a:prstGeom prst="ellipse">
            <a:avLst/>
          </a:prstGeom>
          <a:solidFill>
            <a:srgbClr val="10976B"/>
          </a:solidFill>
          <a:ln/>
          <a:effectLst>
            <a:outerShdw sx="100000" sy="100000" kx="0" ky="0" algn="bl" rotWithShape="0" blurRad="76200" dist="25400" dir="5400000">
              <a:srgbClr val="0A140F">
                <a:alpha val="16000"/>
              </a:srgbClr>
            </a:outerShdw>
          </a:effectLst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4224" y="5387096"/>
            <a:ext cx="253472" cy="253472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8138160" y="5193792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IA</a:t>
            </a:r>
            <a:endParaRPr lang="en-US" sz="1350" dirty="0"/>
          </a:p>
        </p:txBody>
      </p:sp>
      <p:sp>
        <p:nvSpPr>
          <p:cNvPr id="58" name="Text 44"/>
          <p:cNvSpPr/>
          <p:nvPr/>
        </p:nvSpPr>
        <p:spPr>
          <a:xfrm>
            <a:off x="8138160" y="551383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 les données en langage naturel</a:t>
            </a:r>
            <a:endParaRPr lang="en-US" sz="1050" dirty="0"/>
          </a:p>
        </p:txBody>
      </p:sp>
      <p:sp>
        <p:nvSpPr>
          <p:cNvPr id="59" name="Shape 45"/>
          <p:cNvSpPr/>
          <p:nvPr/>
        </p:nvSpPr>
        <p:spPr>
          <a:xfrm>
            <a:off x="3611880" y="2075688"/>
            <a:ext cx="429768" cy="1719072"/>
          </a:xfrm>
          <a:prstGeom prst="line">
            <a:avLst/>
          </a:prstGeom>
          <a:noFill/>
          <a:ln w="14605">
            <a:solidFill>
              <a:srgbClr val="10976B"/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3611880" y="2715768"/>
            <a:ext cx="429768" cy="1078992"/>
          </a:xfrm>
          <a:prstGeom prst="line">
            <a:avLst/>
          </a:prstGeom>
          <a:noFill/>
          <a:ln w="14605">
            <a:solidFill>
              <a:srgbClr val="10976B"/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3611880" y="3355848"/>
            <a:ext cx="429768" cy="438912"/>
          </a:xfrm>
          <a:prstGeom prst="line">
            <a:avLst/>
          </a:prstGeom>
          <a:noFill/>
          <a:ln w="14605">
            <a:solidFill>
              <a:srgbClr val="10976B"/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 flipV="1">
            <a:off x="3611880" y="3794760"/>
            <a:ext cx="429768" cy="201168"/>
          </a:xfrm>
          <a:prstGeom prst="line">
            <a:avLst/>
          </a:prstGeom>
          <a:noFill/>
          <a:ln w="14605">
            <a:solidFill>
              <a:srgbClr val="10976B"/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 flipV="1">
            <a:off x="3611880" y="3794760"/>
            <a:ext cx="429768" cy="841248"/>
          </a:xfrm>
          <a:prstGeom prst="line">
            <a:avLst/>
          </a:prstGeom>
          <a:noFill/>
          <a:ln w="14605">
            <a:solidFill>
              <a:srgbClr val="10976B"/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 flipV="1">
            <a:off x="3611880" y="3794760"/>
            <a:ext cx="429768" cy="1481328"/>
          </a:xfrm>
          <a:prstGeom prst="line">
            <a:avLst/>
          </a:prstGeom>
          <a:noFill/>
          <a:ln w="14605">
            <a:solidFill>
              <a:srgbClr val="10976B"/>
            </a:solidFill>
            <a:prstDash val="solid"/>
          </a:ln>
        </p:spPr>
      </p:sp>
      <p:sp>
        <p:nvSpPr>
          <p:cNvPr id="65" name="Shape 51"/>
          <p:cNvSpPr/>
          <p:nvPr/>
        </p:nvSpPr>
        <p:spPr>
          <a:xfrm flipV="1">
            <a:off x="3611880" y="3794760"/>
            <a:ext cx="429768" cy="2121408"/>
          </a:xfrm>
          <a:prstGeom prst="line">
            <a:avLst/>
          </a:prstGeom>
          <a:noFill/>
          <a:ln w="14605">
            <a:solidFill>
              <a:srgbClr val="10976B"/>
            </a:solidFill>
            <a:prstDash val="solid"/>
          </a:ln>
        </p:spPr>
      </p:sp>
      <p:sp>
        <p:nvSpPr>
          <p:cNvPr id="66" name="Shape 52"/>
          <p:cNvSpPr/>
          <p:nvPr/>
        </p:nvSpPr>
        <p:spPr>
          <a:xfrm flipV="1">
            <a:off x="6656832" y="2331720"/>
            <a:ext cx="502920" cy="146304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 flipV="1">
            <a:off x="6656832" y="3392424"/>
            <a:ext cx="502920" cy="402336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6656832" y="3794760"/>
            <a:ext cx="502920" cy="658368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</a:ln>
        </p:spPr>
      </p:sp>
      <p:sp>
        <p:nvSpPr>
          <p:cNvPr id="69" name="Shape 55"/>
          <p:cNvSpPr/>
          <p:nvPr/>
        </p:nvSpPr>
        <p:spPr>
          <a:xfrm>
            <a:off x="6656832" y="3794760"/>
            <a:ext cx="502920" cy="1719072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</a:ln>
        </p:spPr>
      </p:sp>
      <p:sp>
        <p:nvSpPr>
          <p:cNvPr id="70" name="Text 56"/>
          <p:cNvSpPr/>
          <p:nvPr/>
        </p:nvSpPr>
        <p:spPr>
          <a:xfrm>
            <a:off x="3657600" y="5806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09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</a:t>
            </a:r>
            <a:endParaRPr lang="en-US" sz="850" dirty="0"/>
          </a:p>
        </p:txBody>
      </p:sp>
      <p:sp>
        <p:nvSpPr>
          <p:cNvPr id="71" name="Text 57"/>
          <p:cNvSpPr/>
          <p:nvPr/>
        </p:nvSpPr>
        <p:spPr>
          <a:xfrm>
            <a:off x="6766560" y="5806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850" dirty="0"/>
          </a:p>
        </p:txBody>
      </p:sp>
      <p:sp>
        <p:nvSpPr>
          <p:cNvPr id="72" name="Text 58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 SANAMA · entrepôt &amp; décisionnel — SONASP</a:t>
            </a:r>
            <a:endParaRPr lang="en-US" sz="900" dirty="0"/>
          </a:p>
        </p:txBody>
      </p:sp>
      <p:sp>
        <p:nvSpPr>
          <p:cNvPr id="73" name="Text 59"/>
          <p:cNvSpPr/>
          <p:nvPr/>
        </p:nvSpPr>
        <p:spPr>
          <a:xfrm>
            <a:off x="1115568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Faso SANAMA — Architecture nationale</dc:title>
  <dc:subject>PptxGenJS Presentation</dc:subject>
  <dc:creator>SONASP</dc:creator>
  <cp:lastModifiedBy>SONASP</cp:lastModifiedBy>
  <cp:revision>1</cp:revision>
  <dcterms:created xsi:type="dcterms:W3CDTF">2026-08-20T07:27:54Z</dcterms:created>
  <dcterms:modified xsi:type="dcterms:W3CDTF">2026-08-20T07:27:54Z</dcterms:modified>
</cp:coreProperties>
</file>