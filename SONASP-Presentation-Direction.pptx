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3" r:id="rId2"/>
    <p:sldId id="272" r:id="rId3"/>
    <p:sldId id="258" r:id="rId4"/>
    <p:sldId id="274" r:id="rId5"/>
    <p:sldId id="275" r:id="rId6"/>
    <p:sldId id="261" r:id="rId7"/>
    <p:sldId id="276" r:id="rId8"/>
    <p:sldId id="263" r:id="rId9"/>
    <p:sldId id="264" r:id="rId10"/>
    <p:sldId id="277" r:id="rId11"/>
    <p:sldId id="278" r:id="rId12"/>
    <p:sldId id="279" r:id="rId13"/>
    <p:sldId id="280" r:id="rId14"/>
    <p:sldId id="281" r:id="rId15"/>
    <p:sldId id="282" r:id="rId16"/>
    <p:sldId id="28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39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255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Ouverture. SONASP est la plateforme nationale de traçabilité de l’or. Objectif de la rencontre : présenter la solution et convenir d’un déploiement.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5.png"/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image" Target="../media/image4.png"/><Relationship Id="rId4" Type="http://schemas.openxmlformats.org/officeDocument/2006/relationships/image" Target="../media/image22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D79A0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D79A0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921240" y="4297680"/>
            <a:ext cx="1554480" cy="1554480"/>
          </a:xfrm>
          <a:prstGeom prst="ellipse">
            <a:avLst/>
          </a:prstGeom>
          <a:solidFill>
            <a:srgbClr val="D79A00">
              <a:alpha val="0"/>
            </a:srgbClr>
          </a:solidFill>
          <a:ln w="15240">
            <a:solidFill>
              <a:srgbClr val="D79A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241280" y="4617720"/>
            <a:ext cx="914400" cy="914400"/>
          </a:xfrm>
          <a:prstGeom prst="ellipse">
            <a:avLst/>
          </a:prstGeom>
          <a:solidFill>
            <a:srgbClr val="D79A0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NATIONALE · BURKINA FASO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kern="0" spc="100" dirty="0">
                <a:solidFill>
                  <a:srgbClr val="D79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SONASP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national de collecte et de </a:t>
            </a:r>
            <a:r>
              <a:rPr lang="en-US" sz="250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</a:t>
            </a: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et de vente de l’or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chaque gramme d’or, de la mine à l’exportation, sur une seule plateforme souveraine.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532120"/>
            <a:ext cx="2926080" cy="18288"/>
          </a:xfrm>
          <a:prstGeom prst="rect">
            <a:avLst/>
          </a:prstGeom>
          <a:solidFill>
            <a:srgbClr val="D79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2960" y="5669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à la Direction générale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démonstration · Août 2026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4682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L’or est la première richesse </a:t>
            </a:r>
            <a:r>
              <a:rPr lang="en-US" sz="2700" b="1" dirty="0" err="1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d’exportation</a:t>
            </a:r>
            <a:r>
              <a:rPr lang="en-US" sz="27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: renforçons ensemble la traçabilité de sa chaîne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15184" cy="3383280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88900" dist="25400" dir="5400000" algn="bl" rotWithShape="0">
              <a:srgbClr val="0A140F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2960" y="2441448"/>
            <a:ext cx="749808" cy="749808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04" y="2658892"/>
            <a:ext cx="314919" cy="3149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Orpaillage dispersé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4672" y="40233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d’artisans et de sites, souvent hors de tout registre national fiable.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2148840"/>
            <a:ext cx="2615184" cy="3383280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88900" dist="25400" dir="5400000" algn="bl" rotWithShape="0">
              <a:srgbClr val="0A140F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11880" y="2441448"/>
            <a:ext cx="749808" cy="749808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324" y="2658892"/>
            <a:ext cx="314919" cy="3149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Recettes à sécuriser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593592" y="40233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et redevances difficiles à asseoir quand les flux ne sont pas suivis de bout en bout.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2148840"/>
            <a:ext cx="2615184" cy="3383280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88900" dist="25400" dir="5400000" algn="bl" rotWithShape="0">
              <a:srgbClr val="0A140F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400800" y="2441448"/>
            <a:ext cx="749808" cy="749808"/>
          </a:xfrm>
          <a:prstGeom prst="ellipse">
            <a:avLst/>
          </a:prstGeom>
          <a:solidFill>
            <a:srgbClr val="2F6FEC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244" y="2658892"/>
            <a:ext cx="314919" cy="3149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fragmentées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382512" y="40233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ventes, stocks et exports vivent dans des fichiers séparés, non réconciliés.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15400" y="2148840"/>
            <a:ext cx="2615184" cy="3383280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88900" dist="25400" dir="5400000" algn="bl" rotWithShape="0">
              <a:srgbClr val="0A140F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9189720" y="2441448"/>
            <a:ext cx="749808" cy="749808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7164" y="2658892"/>
            <a:ext cx="314919" cy="3149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1432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Exigences internationales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171432" y="40233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marchés (LBMA, devoir de vigilance OCDE) réclament une traçabilité documentée.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09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L’or est là : notre mission est d’en renforcer la traçabilité, à vos côtés.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62055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291840"/>
            <a:ext cx="4754880" cy="4754880"/>
          </a:xfrm>
          <a:prstGeom prst="ellipse">
            <a:avLst/>
          </a:prstGeom>
          <a:solidFill>
            <a:srgbClr val="D79A0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unique pour piloter toute la filière 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l’enregistrement de l’artisan jusqu’à la licence d’exportation, un seul système, une seule source de vérité.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615184" cy="2514600"/>
          </a:xfrm>
          <a:prstGeom prst="roundRect">
            <a:avLst>
              <a:gd name="adj" fmla="val 4000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572768" y="3337560"/>
            <a:ext cx="749808" cy="749808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212" y="3555004"/>
            <a:ext cx="314919" cy="3149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2062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9536" y="46634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de l’or, chaîné de la mine à l’export.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3063240"/>
            <a:ext cx="2615184" cy="2514600"/>
          </a:xfrm>
          <a:prstGeom prst="roundRect">
            <a:avLst>
              <a:gd name="adj" fmla="val 4000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361688" y="3337560"/>
            <a:ext cx="749808" cy="749808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132" y="3555004"/>
            <a:ext cx="314919" cy="3149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42062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Formalisation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48456" y="46634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Artisans, sites et sociétés dans un registre officiel.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3063240"/>
            <a:ext cx="2615184" cy="2514600"/>
          </a:xfrm>
          <a:prstGeom prst="roundRect">
            <a:avLst>
              <a:gd name="adj" fmla="val 4000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7150608" y="3337560"/>
            <a:ext cx="749808" cy="749808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052" y="3555004"/>
            <a:ext cx="314919" cy="31491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42062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37376" y="46634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Taxes, licences et documents produits et archivés.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06840" y="3063240"/>
            <a:ext cx="2615184" cy="2514600"/>
          </a:xfrm>
          <a:prstGeom prst="roundRect">
            <a:avLst>
              <a:gd name="adj" fmla="val 4000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9939528" y="3337560"/>
            <a:ext cx="749808" cy="749808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972" y="3555004"/>
            <a:ext cx="314919" cy="31491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9720" y="42062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Souveraineté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226296" y="46634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aurifère nationale, maîtrisée par l’État.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domaines métier, une seule plateforme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88900" dist="25400" dir="5400000" algn="bl" rotWithShape="0">
              <a:srgbClr val="0A140F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41248" y="2167128"/>
            <a:ext cx="804672" cy="804672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03" y="2400483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8541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Mines semi-mécanisées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971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miniers &amp; production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 miniers : cartes pro + QR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d’or artisanal (ventes, paiements)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0488" y="18745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88900" dist="25400" dir="5400000" algn="bl" rotWithShape="0">
              <a:srgbClr val="0A140F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483096" y="2167128"/>
            <a:ext cx="804672" cy="804672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451" y="2400483"/>
            <a:ext cx="337962" cy="337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70648" y="218541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Mines industrielles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70648" y="2971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Collecte, achats aux mines, or en coffre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Expéditions, fret &amp; douane, raffinage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Stocks, marché, ventes &amp; parties prenantes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33088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88900" dist="25400" dir="5400000" algn="bl" rotWithShape="0">
              <a:srgbClr val="0A140F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41248" y="4425696"/>
            <a:ext cx="804672" cy="804672"/>
          </a:xfrm>
          <a:prstGeom prst="ellipse">
            <a:avLst/>
          </a:prstGeom>
          <a:solidFill>
            <a:srgbClr val="2F6FEC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603" y="4659051"/>
            <a:ext cx="337962" cy="337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44398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Paramètres &amp; gouvernance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28800" y="52303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 traçabilité &amp; statuts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Utilisateurs, rôles &amp; modules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90488" y="4133088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88900" dist="25400" dir="5400000" algn="bl" rotWithShape="0">
              <a:srgbClr val="0A140F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6483096" y="4425696"/>
            <a:ext cx="804672" cy="804672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451" y="4659051"/>
            <a:ext cx="337962" cy="337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0648" y="444398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&amp; analyses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470648" y="52303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ventes &amp; production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rapports institutionnels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65474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657600" cy="5532120"/>
          </a:xfrm>
          <a:prstGeom prst="roundRect">
            <a:avLst>
              <a:gd name="adj" fmla="val 3000"/>
            </a:avLst>
          </a:prstGeom>
          <a:solidFill>
            <a:srgbClr val="0C1F17"/>
          </a:solidFill>
          <a:ln/>
          <a:effectLst>
            <a:outerShdw blurRad="101600" dist="381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417320" y="4069080"/>
            <a:ext cx="2103120" cy="2103120"/>
          </a:xfrm>
          <a:prstGeom prst="ellipse">
            <a:avLst/>
          </a:prstGeom>
          <a:solidFill>
            <a:srgbClr val="D79A0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68680" y="914400"/>
            <a:ext cx="960120" cy="960120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15" y="1192835"/>
            <a:ext cx="403250" cy="40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SEMI-MÉCANISÉ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Orpaillage &amp; artisans miniers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artisan et chaque site entrent dans un registre national. La carte professionnelle à QR devient une identité vérifiable, socle de la formalisation et de l’anti-fraude.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26280" y="685800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764024" y="986409"/>
            <a:ext cx="658368" cy="658368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951" y="1177336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7955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Cartes professionnelles à QR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1143000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Émission, validation, suivi et alertes d’expiration. Identité contrôlable sur le terrain.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26280" y="2109978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764024" y="2410587"/>
            <a:ext cx="658368" cy="658368"/>
          </a:xfrm>
          <a:prstGeom prst="ellipse">
            <a:avLst/>
          </a:prstGeom>
          <a:solidFill>
            <a:srgbClr val="2F6FEC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951" y="2601514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23560" y="221970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 des artisans &amp; sites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623560" y="2567178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complètes, rattachement territorial (région, province, localité), production calculée.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26280" y="3534156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764024" y="3834765"/>
            <a:ext cx="658368" cy="658368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951" y="4025692"/>
            <a:ext cx="276515" cy="2765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6438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Marché d’or artisanal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3991356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d’or, reçus numérotés, paiements tracés et rapports dédiés.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26280" y="4958334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4764024" y="5258943"/>
            <a:ext cx="658368" cy="658368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4951" y="5449870"/>
            <a:ext cx="276515" cy="2765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23560" y="506806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d’approbation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623560" y="5415534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vente n’est facturée et payée qu’après approbation par un approbateur habilité.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8870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657600" cy="5532120"/>
          </a:xfrm>
          <a:prstGeom prst="roundRect">
            <a:avLst>
              <a:gd name="adj" fmla="val 3000"/>
            </a:avLst>
          </a:prstGeom>
          <a:solidFill>
            <a:srgbClr val="0C1F17"/>
          </a:solidFill>
          <a:ln/>
          <a:effectLst>
            <a:outerShdw blurRad="101600" dist="381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417320" y="4069080"/>
            <a:ext cx="2103120" cy="2103120"/>
          </a:xfrm>
          <a:prstGeom prst="ellipse">
            <a:avLst/>
          </a:prstGeom>
          <a:solidFill>
            <a:srgbClr val="D79A0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68680" y="914400"/>
            <a:ext cx="960120" cy="960120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15" y="1192835"/>
            <a:ext cx="403250" cy="40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INDUSTRIEL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 &amp; production industrielle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circuit des sociétés minières : de la production journalière à la licence d’exportation, chaque étape est enregistrée, chiffrée et opposable.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26280" y="685800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764024" y="986409"/>
            <a:ext cx="658368" cy="658368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951" y="1177336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7955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&amp; achats aux mines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1143000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 la production journalière et des achats de SONASP aux mines, distincts de la vente à l’export.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26280" y="2109978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764024" y="2410587"/>
            <a:ext cx="658368" cy="658368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951" y="2601514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23560" y="221970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en coffre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623560" y="2567178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lots détenus, teneur, rattachement à la société minière d’origine.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26280" y="3534156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764024" y="3834765"/>
            <a:ext cx="658368" cy="658368"/>
          </a:xfrm>
          <a:prstGeom prst="ellipse">
            <a:avLst/>
          </a:prstGeom>
          <a:solidFill>
            <a:srgbClr val="2F6FEC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951" y="4025692"/>
            <a:ext cx="276515" cy="2765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6438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Licences d’exportation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3991356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et suivi des dossiers de licence, pièces jointes archivées.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26280" y="4958334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4764024" y="5258943"/>
            <a:ext cx="658368" cy="658368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951" y="5449870"/>
            <a:ext cx="276515" cy="2765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23560" y="506806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Budgets &amp; prévisions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623560" y="5415534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budgétaire et projections de collecte pour le pilotage.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657600" cy="5532120"/>
          </a:xfrm>
          <a:prstGeom prst="roundRect">
            <a:avLst>
              <a:gd name="adj" fmla="val 3000"/>
            </a:avLst>
          </a:prstGeom>
          <a:solidFill>
            <a:srgbClr val="0C1F17"/>
          </a:solidFill>
          <a:ln/>
          <a:effectLst>
            <a:outerShdw blurRad="101600" dist="381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417320" y="4069080"/>
            <a:ext cx="2103120" cy="2103120"/>
          </a:xfrm>
          <a:prstGeom prst="ellipse">
            <a:avLst/>
          </a:prstGeom>
          <a:solidFill>
            <a:srgbClr val="D79A0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68680" y="914400"/>
            <a:ext cx="960120" cy="960120"/>
          </a:xfrm>
          <a:prstGeom prst="ellipse">
            <a:avLst/>
          </a:prstGeom>
          <a:solidFill>
            <a:srgbClr val="2F6FEC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15" y="1192835"/>
            <a:ext cx="403250" cy="40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CHAÎNE LOGISTIQUE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Expéditions, raffinage &amp; export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maillon physique de la traçabilité : préparer, expédier, dédouaner, raffiner, sans jamais rompre le lien avec le lot d’origine.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26280" y="685800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764024" y="986409"/>
            <a:ext cx="658368" cy="658368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951" y="1177336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7955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Expéditions &amp; fret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1143000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envois, transporteurs, suivi des expéditions de fret.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26280" y="2109978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764024" y="2410587"/>
            <a:ext cx="658368" cy="658368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951" y="2601514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23560" y="221970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Formalités douanières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623560" y="2567178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douaniers rattachés à l’expédition et à ses lots.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26280" y="3534156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764024" y="3834765"/>
            <a:ext cx="658368" cy="658368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951" y="4025692"/>
            <a:ext cx="276515" cy="2765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6438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Raffinage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3991356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du raffinage et réception des lots, rendements et écarts affichés.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26280" y="4958334"/>
            <a:ext cx="7086600" cy="1259586"/>
          </a:xfrm>
          <a:prstGeom prst="roundRect">
            <a:avLst>
              <a:gd name="adj" fmla="val 6534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4764024" y="5258943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951" y="5449870"/>
            <a:ext cx="276515" cy="2765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23560" y="506806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Stocks or &amp; argent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623560" y="5415534"/>
            <a:ext cx="5760720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national par état (coffre, transit, aéroport, vendu), cohérence stock ↔ lots contrôlée.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18507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937760" cy="4937760"/>
          </a:xfrm>
          <a:prstGeom prst="ellipse">
            <a:avLst/>
          </a:prstGeom>
          <a:solidFill>
            <a:srgbClr val="D79A0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SYSTÈME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traçabilité, chaînée de la mine à l’export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vente à l’export est reliée aux achats qui la servent ; le stock est réconcilié avec les lots affectés. Le fil n’est jamais rompu.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591056" y="3666744"/>
            <a:ext cx="514677" cy="0"/>
          </a:xfrm>
          <a:prstGeom prst="line">
            <a:avLst/>
          </a:prstGeom>
          <a:noFill/>
          <a:ln w="19050">
            <a:solidFill>
              <a:srgbClr val="D79A0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58368" y="3200400"/>
            <a:ext cx="932688" cy="932688"/>
          </a:xfrm>
          <a:prstGeom prst="ellipse">
            <a:avLst/>
          </a:prstGeom>
          <a:solidFill>
            <a:srgbClr val="12352A"/>
          </a:solidFill>
          <a:ln w="19050">
            <a:solidFill>
              <a:srgbClr val="D79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21" y="3461553"/>
            <a:ext cx="410383" cy="41038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80160" y="3145536"/>
            <a:ext cx="384048" cy="384048"/>
          </a:xfrm>
          <a:prstGeom prst="ellipse">
            <a:avLst/>
          </a:prstGeom>
          <a:solidFill>
            <a:srgbClr val="D79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128016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768" y="4224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/ Artisan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38421" y="3666744"/>
            <a:ext cx="514677" cy="0"/>
          </a:xfrm>
          <a:prstGeom prst="line">
            <a:avLst/>
          </a:prstGeom>
          <a:noFill/>
          <a:ln w="19050">
            <a:solidFill>
              <a:srgbClr val="D79A0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2105733" y="3200400"/>
            <a:ext cx="932688" cy="932688"/>
          </a:xfrm>
          <a:prstGeom prst="ellipse">
            <a:avLst/>
          </a:prstGeom>
          <a:solidFill>
            <a:srgbClr val="12352A"/>
          </a:solidFill>
          <a:ln w="19050">
            <a:solidFill>
              <a:srgbClr val="D79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885" y="3461553"/>
            <a:ext cx="410383" cy="41038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27525" y="3145536"/>
            <a:ext cx="384048" cy="384048"/>
          </a:xfrm>
          <a:prstGeom prst="ellipse">
            <a:avLst/>
          </a:prstGeom>
          <a:solidFill>
            <a:srgbClr val="D79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2727525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877133" y="4224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SONASP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485785" y="3666744"/>
            <a:ext cx="514677" cy="0"/>
          </a:xfrm>
          <a:prstGeom prst="line">
            <a:avLst/>
          </a:prstGeom>
          <a:noFill/>
          <a:ln w="19050">
            <a:solidFill>
              <a:srgbClr val="D79A0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3553097" y="3200400"/>
            <a:ext cx="932688" cy="932688"/>
          </a:xfrm>
          <a:prstGeom prst="ellipse">
            <a:avLst/>
          </a:prstGeom>
          <a:solidFill>
            <a:srgbClr val="12352A"/>
          </a:solidFill>
          <a:ln w="19050">
            <a:solidFill>
              <a:srgbClr val="D79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250" y="3461553"/>
            <a:ext cx="410383" cy="41038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174889" y="3145536"/>
            <a:ext cx="384048" cy="384048"/>
          </a:xfrm>
          <a:prstGeom prst="ellipse">
            <a:avLst/>
          </a:prstGeom>
          <a:solidFill>
            <a:srgbClr val="D79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/>
          <p:nvPr/>
        </p:nvSpPr>
        <p:spPr>
          <a:xfrm>
            <a:off x="4174889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324497" y="4224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en coffre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933150" y="3666744"/>
            <a:ext cx="514677" cy="0"/>
          </a:xfrm>
          <a:prstGeom prst="line">
            <a:avLst/>
          </a:prstGeom>
          <a:noFill/>
          <a:ln w="19050">
            <a:solidFill>
              <a:srgbClr val="D79A0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5000462" y="3200400"/>
            <a:ext cx="932688" cy="932688"/>
          </a:xfrm>
          <a:prstGeom prst="ellipse">
            <a:avLst/>
          </a:prstGeom>
          <a:solidFill>
            <a:srgbClr val="12352A"/>
          </a:solidFill>
          <a:ln w="19050">
            <a:solidFill>
              <a:srgbClr val="D79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1614" y="3461553"/>
            <a:ext cx="410383" cy="410383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622254" y="3145536"/>
            <a:ext cx="384048" cy="384048"/>
          </a:xfrm>
          <a:prstGeom prst="ellipse">
            <a:avLst/>
          </a:prstGeom>
          <a:solidFill>
            <a:srgbClr val="D79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2"/>
          <p:cNvSpPr/>
          <p:nvPr/>
        </p:nvSpPr>
        <p:spPr>
          <a:xfrm>
            <a:off x="5622254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771862" y="4224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national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380514" y="3666744"/>
            <a:ext cx="514677" cy="0"/>
          </a:xfrm>
          <a:prstGeom prst="line">
            <a:avLst/>
          </a:prstGeom>
          <a:noFill/>
          <a:ln w="19050">
            <a:solidFill>
              <a:srgbClr val="D79A0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5"/>
          <p:cNvSpPr/>
          <p:nvPr/>
        </p:nvSpPr>
        <p:spPr>
          <a:xfrm>
            <a:off x="6447826" y="3200400"/>
            <a:ext cx="932688" cy="932688"/>
          </a:xfrm>
          <a:prstGeom prst="ellipse">
            <a:avLst/>
          </a:prstGeom>
          <a:solidFill>
            <a:srgbClr val="12352A"/>
          </a:solidFill>
          <a:ln w="19050">
            <a:solidFill>
              <a:srgbClr val="D79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8979" y="3461553"/>
            <a:ext cx="410383" cy="41038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7069618" y="3145536"/>
            <a:ext cx="384048" cy="384048"/>
          </a:xfrm>
          <a:prstGeom prst="ellipse">
            <a:avLst/>
          </a:prstGeom>
          <a:solidFill>
            <a:srgbClr val="D79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7"/>
          <p:cNvSpPr/>
          <p:nvPr/>
        </p:nvSpPr>
        <p:spPr>
          <a:xfrm>
            <a:off x="706961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219226" y="4224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Expédition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827879" y="3666744"/>
            <a:ext cx="514677" cy="0"/>
          </a:xfrm>
          <a:prstGeom prst="line">
            <a:avLst/>
          </a:prstGeom>
          <a:noFill/>
          <a:ln w="19050">
            <a:solidFill>
              <a:srgbClr val="D79A0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0"/>
          <p:cNvSpPr/>
          <p:nvPr/>
        </p:nvSpPr>
        <p:spPr>
          <a:xfrm>
            <a:off x="7895191" y="3200400"/>
            <a:ext cx="932688" cy="932688"/>
          </a:xfrm>
          <a:prstGeom prst="ellipse">
            <a:avLst/>
          </a:prstGeom>
          <a:solidFill>
            <a:srgbClr val="12352A"/>
          </a:solidFill>
          <a:ln w="19050">
            <a:solidFill>
              <a:srgbClr val="D79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343" y="3461553"/>
            <a:ext cx="410383" cy="410383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8516983" y="3145536"/>
            <a:ext cx="384048" cy="384048"/>
          </a:xfrm>
          <a:prstGeom prst="ellipse">
            <a:avLst/>
          </a:prstGeom>
          <a:solidFill>
            <a:srgbClr val="D79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2"/>
          <p:cNvSpPr/>
          <p:nvPr/>
        </p:nvSpPr>
        <p:spPr>
          <a:xfrm>
            <a:off x="8516983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7666591" y="4224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Douane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10275243" y="3666744"/>
            <a:ext cx="514677" cy="0"/>
          </a:xfrm>
          <a:prstGeom prst="line">
            <a:avLst/>
          </a:prstGeom>
          <a:noFill/>
          <a:ln w="19050">
            <a:solidFill>
              <a:srgbClr val="D79A0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35"/>
          <p:cNvSpPr/>
          <p:nvPr/>
        </p:nvSpPr>
        <p:spPr>
          <a:xfrm>
            <a:off x="9342555" y="3200400"/>
            <a:ext cx="932688" cy="932688"/>
          </a:xfrm>
          <a:prstGeom prst="ellipse">
            <a:avLst/>
          </a:prstGeom>
          <a:solidFill>
            <a:srgbClr val="12352A"/>
          </a:solidFill>
          <a:ln w="19050">
            <a:solidFill>
              <a:srgbClr val="D79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3708" y="3461553"/>
            <a:ext cx="410383" cy="410383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9964347" y="3145536"/>
            <a:ext cx="384048" cy="384048"/>
          </a:xfrm>
          <a:prstGeom prst="ellipse">
            <a:avLst/>
          </a:prstGeom>
          <a:solidFill>
            <a:srgbClr val="D79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37"/>
          <p:cNvSpPr/>
          <p:nvPr/>
        </p:nvSpPr>
        <p:spPr>
          <a:xfrm>
            <a:off x="9964347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9113955" y="4224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Raffinage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10789920" y="3200400"/>
            <a:ext cx="932688" cy="932688"/>
          </a:xfrm>
          <a:prstGeom prst="ellipse">
            <a:avLst/>
          </a:prstGeom>
          <a:solidFill>
            <a:srgbClr val="12352A"/>
          </a:solidFill>
          <a:ln w="19050">
            <a:solidFill>
              <a:srgbClr val="D79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51073" y="3461553"/>
            <a:ext cx="410383" cy="410383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11411712" y="3145536"/>
            <a:ext cx="384048" cy="384048"/>
          </a:xfrm>
          <a:prstGeom prst="ellipse">
            <a:avLst/>
          </a:prstGeom>
          <a:solidFill>
            <a:srgbClr val="D79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1"/>
          <p:cNvSpPr/>
          <p:nvPr/>
        </p:nvSpPr>
        <p:spPr>
          <a:xfrm>
            <a:off x="11411712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10561320" y="4224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53" name="Shape 43"/>
          <p:cNvSpPr/>
          <p:nvPr/>
        </p:nvSpPr>
        <p:spPr>
          <a:xfrm>
            <a:off x="640080" y="5074920"/>
            <a:ext cx="3529584" cy="1051560"/>
          </a:xfrm>
          <a:prstGeom prst="roundRect">
            <a:avLst>
              <a:gd name="adj" fmla="val 7826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44"/>
          <p:cNvSpPr/>
          <p:nvPr/>
        </p:nvSpPr>
        <p:spPr>
          <a:xfrm>
            <a:off x="822960" y="5276088"/>
            <a:ext cx="640080" cy="640080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8583" y="5461711"/>
            <a:ext cx="268834" cy="268834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1600200" y="522122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paramétrable</a:t>
            </a:r>
            <a:endParaRPr lang="en-US" sz="1350" dirty="0"/>
          </a:p>
        </p:txBody>
      </p:sp>
      <p:sp>
        <p:nvSpPr>
          <p:cNvPr id="57" name="Text 46"/>
          <p:cNvSpPr/>
          <p:nvPr/>
        </p:nvSpPr>
        <p:spPr>
          <a:xfrm>
            <a:off x="1600200" y="555040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et étapes configurables sans toucher au code.</a:t>
            </a:r>
            <a:endParaRPr lang="en-US" sz="1050" dirty="0"/>
          </a:p>
        </p:txBody>
      </p:sp>
      <p:sp>
        <p:nvSpPr>
          <p:cNvPr id="58" name="Shape 47"/>
          <p:cNvSpPr/>
          <p:nvPr/>
        </p:nvSpPr>
        <p:spPr>
          <a:xfrm>
            <a:off x="4407408" y="5074920"/>
            <a:ext cx="3529584" cy="1051560"/>
          </a:xfrm>
          <a:prstGeom prst="roundRect">
            <a:avLst>
              <a:gd name="adj" fmla="val 7826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48"/>
          <p:cNvSpPr/>
          <p:nvPr/>
        </p:nvSpPr>
        <p:spPr>
          <a:xfrm>
            <a:off x="4590288" y="5276088"/>
            <a:ext cx="640080" cy="640080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5911" y="5461711"/>
            <a:ext cx="268834" cy="268834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5367528" y="522122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Numérotation certifiée</a:t>
            </a:r>
            <a:endParaRPr lang="en-US" sz="1350" dirty="0"/>
          </a:p>
        </p:txBody>
      </p:sp>
      <p:sp>
        <p:nvSpPr>
          <p:cNvPr id="62" name="Text 50"/>
          <p:cNvSpPr/>
          <p:nvPr/>
        </p:nvSpPr>
        <p:spPr>
          <a:xfrm>
            <a:off x="5367528" y="555040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Reçus et factures numérotés par le système, jamais à la main.</a:t>
            </a:r>
            <a:endParaRPr lang="en-US" sz="1050" dirty="0"/>
          </a:p>
        </p:txBody>
      </p:sp>
      <p:sp>
        <p:nvSpPr>
          <p:cNvPr id="63" name="Shape 51"/>
          <p:cNvSpPr/>
          <p:nvPr/>
        </p:nvSpPr>
        <p:spPr>
          <a:xfrm>
            <a:off x="8174736" y="5074920"/>
            <a:ext cx="3529584" cy="1051560"/>
          </a:xfrm>
          <a:prstGeom prst="roundRect">
            <a:avLst>
              <a:gd name="adj" fmla="val 7826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52"/>
          <p:cNvSpPr/>
          <p:nvPr/>
        </p:nvSpPr>
        <p:spPr>
          <a:xfrm>
            <a:off x="8357616" y="5276088"/>
            <a:ext cx="640080" cy="640080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3239" y="5461711"/>
            <a:ext cx="268834" cy="268834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9134856" y="522122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Cohérence garantie</a:t>
            </a:r>
            <a:endParaRPr lang="en-US" sz="1350" dirty="0"/>
          </a:p>
        </p:txBody>
      </p:sp>
      <p:sp>
        <p:nvSpPr>
          <p:cNvPr id="67" name="Text 54"/>
          <p:cNvSpPr/>
          <p:nvPr/>
        </p:nvSpPr>
        <p:spPr>
          <a:xfrm>
            <a:off x="9134856" y="555040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bloquants : pas de flux orphelin, pas de stock incohérent.</a:t>
            </a:r>
            <a:endParaRPr lang="en-US" sz="1050" dirty="0"/>
          </a:p>
        </p:txBody>
      </p:sp>
      <p:sp>
        <p:nvSpPr>
          <p:cNvPr id="68" name="Text 5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69" name="Text 56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CONFORMITÉ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ventes contrôlées, des recettes sécurisées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3F6F4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2034540"/>
            <a:ext cx="548640" cy="548640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2193646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944368" y="1874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29000" y="187452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0976B"/>
          </a:solidFill>
          <a:ln w="12700">
            <a:solidFill>
              <a:srgbClr val="1097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11880" y="2034540"/>
            <a:ext cx="548640" cy="548640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986" y="2193646"/>
            <a:ext cx="230429" cy="23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18745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Approbation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24728" y="1874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309360" y="187452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3F6F4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492240" y="2034540"/>
            <a:ext cx="548640" cy="548640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346" y="2193646"/>
            <a:ext cx="230429" cy="2304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18745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705088" y="1874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9189720" y="187452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3F6F4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9372600" y="2034540"/>
            <a:ext cx="548640" cy="548640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1706" y="2193646"/>
            <a:ext cx="230429" cy="2304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12680" y="18745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48640" y="2834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09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facture n’est générée et le paiement émis qu’après l’approbation d’un approbateur habilité.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337560"/>
            <a:ext cx="2615184" cy="2606040"/>
          </a:xfrm>
          <a:prstGeom prst="roundRect">
            <a:avLst>
              <a:gd name="adj" fmla="val 3509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76200" dist="25400" dir="5400000" algn="bl" rotWithShape="0">
              <a:srgbClr val="0A140F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804672" y="3593592"/>
            <a:ext cx="694944" cy="694944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206" y="3795126"/>
            <a:ext cx="291876" cy="2918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6384" y="44348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Numérotation certifiée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86384" y="496519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Reçus et factures numérotés par le système (format daté et séquentiel), jamais saisis à la main.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337560" y="3337560"/>
            <a:ext cx="2615184" cy="2606040"/>
          </a:xfrm>
          <a:prstGeom prst="roundRect">
            <a:avLst>
              <a:gd name="adj" fmla="val 3509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76200" dist="25400" dir="5400000" algn="bl" rotWithShape="0">
              <a:srgbClr val="0A140F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3593592" y="3593592"/>
            <a:ext cx="694944" cy="694944"/>
          </a:xfrm>
          <a:prstGeom prst="ellipse">
            <a:avLst/>
          </a:prstGeom>
          <a:solidFill>
            <a:srgbClr val="2F6FEC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5126" y="3795126"/>
            <a:ext cx="291876" cy="2918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75304" y="44348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Taxes &amp; redevances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3575304" y="496519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TVA, taxe de développement, redevances calculées automatiquement à chaque vente.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126480" y="3337560"/>
            <a:ext cx="2615184" cy="2606040"/>
          </a:xfrm>
          <a:prstGeom prst="roundRect">
            <a:avLst>
              <a:gd name="adj" fmla="val 3509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76200" dist="25400" dir="5400000" algn="bl" rotWithShape="0">
              <a:srgbClr val="0A140F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7"/>
          <p:cNvSpPr/>
          <p:nvPr/>
        </p:nvSpPr>
        <p:spPr>
          <a:xfrm>
            <a:off x="6382512" y="3593592"/>
            <a:ext cx="694944" cy="694944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046" y="3795126"/>
            <a:ext cx="291876" cy="29187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64224" y="44348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 fiscale (DGI/SFE)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6364224" y="496519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prête pour la facture certifiée et le raccordement au dispositif de l’État.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8915400" y="3337560"/>
            <a:ext cx="2615184" cy="2606040"/>
          </a:xfrm>
          <a:prstGeom prst="roundRect">
            <a:avLst>
              <a:gd name="adj" fmla="val 3509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76200" dist="25400" dir="5400000" algn="bl" rotWithShape="0">
              <a:srgbClr val="0A140F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1"/>
          <p:cNvSpPr/>
          <p:nvPr/>
        </p:nvSpPr>
        <p:spPr>
          <a:xfrm>
            <a:off x="9171432" y="3593592"/>
            <a:ext cx="694944" cy="694944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966" y="3795126"/>
            <a:ext cx="291876" cy="29187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53144" y="44348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Pièces opposables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9153144" y="496519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spécimen, certificats d’essai et dossiers archivés et rattachés à chaque flux.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&amp; DÉCISION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Décider sur des chiffres, pas sur des estimations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806440" cy="914400"/>
          </a:xfrm>
          <a:prstGeom prst="roundRect">
            <a:avLst>
              <a:gd name="adj" fmla="val 9000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49808" y="2112264"/>
            <a:ext cx="621792" cy="621792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28" y="2292584"/>
            <a:ext cx="261153" cy="2611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8483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Tableaux de bord nationaux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72768" y="24048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ventes, stocks et taxes agrégés en temps réel.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26664"/>
            <a:ext cx="5806440" cy="914400"/>
          </a:xfrm>
          <a:prstGeom prst="roundRect">
            <a:avLst>
              <a:gd name="adj" fmla="val 9000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749808" y="3172968"/>
            <a:ext cx="621792" cy="621792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28" y="3353288"/>
            <a:ext cx="261153" cy="2611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314553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IA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572768" y="346557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Interroger les données en langage naturel pour un rapport instantané.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87368"/>
            <a:ext cx="5806440" cy="914400"/>
          </a:xfrm>
          <a:prstGeom prst="roundRect">
            <a:avLst>
              <a:gd name="adj" fmla="val 9000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749808" y="4233672"/>
            <a:ext cx="621792" cy="621792"/>
          </a:xfrm>
          <a:prstGeom prst="ellipse">
            <a:avLst/>
          </a:prstGeom>
          <a:solidFill>
            <a:srgbClr val="2F6FEC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28" y="4413992"/>
            <a:ext cx="261153" cy="26115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4206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institutionnels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72768" y="4526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Éditions prêtes à partager avec les tutelles et partenaires.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148072"/>
            <a:ext cx="5806440" cy="914400"/>
          </a:xfrm>
          <a:prstGeom prst="roundRect">
            <a:avLst>
              <a:gd name="adj" fmla="val 9000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749808" y="5294376"/>
            <a:ext cx="621792" cy="621792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128" y="5474696"/>
            <a:ext cx="261153" cy="26115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526694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nationale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72768" y="5586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indicateurs clés de la filière, par période et par acteur.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629400" y="196596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0C1F17"/>
          </a:solidFill>
          <a:ln/>
          <a:effectLst>
            <a:outerShdw blurRad="101600" dist="38100" dir="5400000" algn="bl" rotWithShape="0">
              <a:srgbClr val="0A140F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19"/>
          <p:cNvSpPr/>
          <p:nvPr/>
        </p:nvSpPr>
        <p:spPr>
          <a:xfrm>
            <a:off x="6903720" y="21945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: aperçu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903720" y="2651760"/>
            <a:ext cx="2080260" cy="777240"/>
          </a:xfrm>
          <a:prstGeom prst="roundRect">
            <a:avLst>
              <a:gd name="adj" fmla="val 9412"/>
            </a:avLst>
          </a:prstGeom>
          <a:solidFill>
            <a:srgbClr val="1235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/>
          <p:nvPr/>
        </p:nvSpPr>
        <p:spPr>
          <a:xfrm>
            <a:off x="7086600" y="2761488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086600" y="301752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B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suivie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9258300" y="2651760"/>
            <a:ext cx="2080260" cy="777240"/>
          </a:xfrm>
          <a:prstGeom prst="roundRect">
            <a:avLst>
              <a:gd name="adj" fmla="val 9412"/>
            </a:avLst>
          </a:prstGeom>
          <a:solidFill>
            <a:srgbClr val="1235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9441180" y="2761488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441180" y="301752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B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tracées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6903720" y="3630168"/>
            <a:ext cx="2080260" cy="777240"/>
          </a:xfrm>
          <a:prstGeom prst="roundRect">
            <a:avLst>
              <a:gd name="adj" fmla="val 9412"/>
            </a:avLst>
          </a:prstGeom>
          <a:solidFill>
            <a:srgbClr val="1235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7"/>
          <p:cNvSpPr/>
          <p:nvPr/>
        </p:nvSpPr>
        <p:spPr>
          <a:xfrm>
            <a:off x="7086600" y="3739896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7086600" y="3995928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B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réconcilié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9258300" y="3630168"/>
            <a:ext cx="2080260" cy="777240"/>
          </a:xfrm>
          <a:prstGeom prst="roundRect">
            <a:avLst>
              <a:gd name="adj" fmla="val 9412"/>
            </a:avLst>
          </a:prstGeom>
          <a:solidFill>
            <a:srgbClr val="1235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9441180" y="3739896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9441180" y="3995928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B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calculées</a:t>
            </a:r>
            <a:endParaRPr lang="en-US" sz="1500" dirty="0"/>
          </a:p>
        </p:txBody>
      </p:sp>
      <p:sp>
        <p:nvSpPr>
          <p:cNvPr id="38" name="Shape 32"/>
          <p:cNvSpPr/>
          <p:nvPr/>
        </p:nvSpPr>
        <p:spPr>
          <a:xfrm>
            <a:off x="6949440" y="5006340"/>
            <a:ext cx="457200" cy="525780"/>
          </a:xfrm>
          <a:prstGeom prst="rect">
            <a:avLst/>
          </a:prstGeom>
          <a:solidFill>
            <a:srgbClr val="21C99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3"/>
          <p:cNvSpPr/>
          <p:nvPr/>
        </p:nvSpPr>
        <p:spPr>
          <a:xfrm>
            <a:off x="7699248" y="4774997"/>
            <a:ext cx="457200" cy="757123"/>
          </a:xfrm>
          <a:prstGeom prst="rect">
            <a:avLst/>
          </a:prstGeom>
          <a:solidFill>
            <a:srgbClr val="21C99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4"/>
          <p:cNvSpPr/>
          <p:nvPr/>
        </p:nvSpPr>
        <p:spPr>
          <a:xfrm>
            <a:off x="8449056" y="4880153"/>
            <a:ext cx="457200" cy="651967"/>
          </a:xfrm>
          <a:prstGeom prst="rect">
            <a:avLst/>
          </a:prstGeom>
          <a:solidFill>
            <a:srgbClr val="21C99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5"/>
          <p:cNvSpPr/>
          <p:nvPr/>
        </p:nvSpPr>
        <p:spPr>
          <a:xfrm>
            <a:off x="9198864" y="4606747"/>
            <a:ext cx="457200" cy="925373"/>
          </a:xfrm>
          <a:prstGeom prst="rect">
            <a:avLst/>
          </a:prstGeom>
          <a:solidFill>
            <a:srgbClr val="21C99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36"/>
          <p:cNvSpPr/>
          <p:nvPr/>
        </p:nvSpPr>
        <p:spPr>
          <a:xfrm>
            <a:off x="9948672" y="4690872"/>
            <a:ext cx="457200" cy="841248"/>
          </a:xfrm>
          <a:prstGeom prst="rect">
            <a:avLst/>
          </a:prstGeom>
          <a:solidFill>
            <a:srgbClr val="21C99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37"/>
          <p:cNvSpPr/>
          <p:nvPr/>
        </p:nvSpPr>
        <p:spPr>
          <a:xfrm>
            <a:off x="10698480" y="4480560"/>
            <a:ext cx="457200" cy="1051560"/>
          </a:xfrm>
          <a:prstGeom prst="rect">
            <a:avLst/>
          </a:prstGeom>
          <a:solidFill>
            <a:srgbClr val="D79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8"/>
          <p:cNvSpPr/>
          <p:nvPr/>
        </p:nvSpPr>
        <p:spPr>
          <a:xfrm>
            <a:off x="6903720" y="58338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illustratif : les indicateurs affichent les données réelles de la plateforme.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26532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4023360" cy="4023360"/>
          </a:xfrm>
          <a:prstGeom prst="ellipse">
            <a:avLst/>
          </a:prstGeom>
          <a:solidFill>
            <a:srgbClr val="D79A0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GOUVERNANCE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accès est un droit, chaque action est tracée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59536" y="2322576"/>
            <a:ext cx="676656" cy="676656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766" y="2518806"/>
            <a:ext cx="284196" cy="2841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234086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 rôles métier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77824" y="301752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Propriétaire, direction, administrateur, usine, aéroport, raffinerie, client : droits calibrés par fonction.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07408" y="2103120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626864" y="2322576"/>
            <a:ext cx="676656" cy="676656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094" y="2518806"/>
            <a:ext cx="284196" cy="2841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31536" y="234086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Habilitations par module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45152" y="301752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Voir, créer, modifier, approuver : le droit est accordé au juste niveau, point d’écriture unique.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74736" y="2103120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394192" y="2322576"/>
            <a:ext cx="676656" cy="676656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422" y="2518806"/>
            <a:ext cx="284196" cy="2841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98864" y="234086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au niveau des lignes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12480" y="301752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applique les règles (RLS) : un utilisateur ne voit que ce qui le concerne.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105656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859536" y="4325112"/>
            <a:ext cx="676656" cy="676656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766" y="4521342"/>
            <a:ext cx="284196" cy="2841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64208" y="434340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 minimal par défaut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77824" y="5020056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privilège implicite ; les rôles sensibles viennent d’une source non falsifiable.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07408" y="4105656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4626864" y="4325112"/>
            <a:ext cx="676656" cy="676656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094" y="4521342"/>
            <a:ext cx="284196" cy="2841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31536" y="434340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Journalisation &amp; audit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45152" y="5020056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Connexions, sessions et actions historisées pour le contrôle.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74736" y="4105656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8394192" y="4325112"/>
            <a:ext cx="676656" cy="676656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0422" y="4521342"/>
            <a:ext cx="284196" cy="2841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98864" y="434340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Souveraineté des données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412480" y="5020056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additives et réversibles ; la donnée nationale reste maîtrisée.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28399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09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NATIONAL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plateforme apporte au Burkina Faso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76200" dist="25400" dir="5400000" algn="bl" rotWithShape="0">
              <a:srgbClr val="0A140F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86384" y="2203704"/>
            <a:ext cx="731520" cy="731520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2415845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4028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Recettes fiscales sécurisées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0449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et redevances assises sur des flux tracés de bout en bout : moins de fuites, plus de recouvrement.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5968" y="196596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76200" dist="25400" dir="5400000" algn="bl" rotWithShape="0">
              <a:srgbClr val="0A140F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553712" y="2203704"/>
            <a:ext cx="731520" cy="731520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853" y="2415845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4028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Formalisation de l’orpaillage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0449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 et sites enregistrés, cartes à QR : sortie progressive de l’informel.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83296" y="196596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76200" dist="25400" dir="5400000" algn="bl" rotWithShape="0">
              <a:srgbClr val="0A140F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321040" y="2203704"/>
            <a:ext cx="731520" cy="731520"/>
          </a:xfrm>
          <a:prstGeom prst="ellipse">
            <a:avLst/>
          </a:prstGeom>
          <a:solidFill>
            <a:srgbClr val="2F6FEC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181" y="2415845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0576" y="224028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Lutte contre la contrebande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39328" y="30449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 non tracé devient un or non vendable ; chaque lot a une origine documentée.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33088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76200" dist="25400" dir="5400000" algn="bl" rotWithShape="0">
              <a:srgbClr val="0A140F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786384" y="4370832"/>
            <a:ext cx="731520" cy="731520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5" y="458297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4074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Accès aux marchés exigeants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212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conforme aux attentes internationales (LBMA, vigilance OCDE).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15968" y="4133088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76200" dist="25400" dir="5400000" algn="bl" rotWithShape="0">
              <a:srgbClr val="0A140F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4553712" y="4370832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5853" y="4582973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13248" y="44074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Souveraineté sur la donnée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5212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aurifère nationale, hébergée et maîtrisée par l’État, base des politiques publiques.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83296" y="4133088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  <a:effectLst>
            <a:outerShdw blurRad="76200" dist="25400" dir="5400000" algn="bl" rotWithShape="0">
              <a:srgbClr val="0A140F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8321040" y="4370832"/>
            <a:ext cx="731520" cy="731520"/>
          </a:xfrm>
          <a:prstGeom prst="ellipse">
            <a:avLst/>
          </a:prstGeom>
          <a:solidFill>
            <a:srgbClr val="F36B21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3181" y="4582973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0576" y="44074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Transparence &amp; crédibilité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39328" y="5212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chiffres officiels et opposables renforcent la confiance des partenaires et des tutelles.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19556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déjà bâtie, testée et éprouvée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15184" cy="1371600"/>
          </a:xfrm>
          <a:prstGeom prst="roundRect">
            <a:avLst>
              <a:gd name="adj" fmla="val 6667"/>
            </a:avLst>
          </a:prstGeom>
          <a:solidFill>
            <a:srgbClr val="0C1F17"/>
          </a:solidFill>
          <a:ln/>
          <a:effectLst>
            <a:outerShdw blurRad="76200" dist="25400" dir="5400000" algn="bl" rotWithShape="0">
              <a:srgbClr val="0A140F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B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5292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métier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615184" cy="1371600"/>
          </a:xfrm>
          <a:prstGeom prst="roundRect">
            <a:avLst>
              <a:gd name="adj" fmla="val 6667"/>
            </a:avLst>
          </a:prstGeom>
          <a:solidFill>
            <a:srgbClr val="0C1F17"/>
          </a:solidFill>
          <a:ln/>
          <a:effectLst>
            <a:outerShdw blurRad="76200" dist="25400" dir="5400000" algn="bl" rotWithShape="0">
              <a:srgbClr val="0A140F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429000" y="210312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B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29000" y="285292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écrans applicatifs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615184" cy="1371600"/>
          </a:xfrm>
          <a:prstGeom prst="roundRect">
            <a:avLst>
              <a:gd name="adj" fmla="val 6667"/>
            </a:avLst>
          </a:prstGeom>
          <a:solidFill>
            <a:srgbClr val="0C1F17"/>
          </a:solidFill>
          <a:ln/>
          <a:effectLst>
            <a:outerShdw blurRad="76200" dist="25400" dir="5400000" algn="bl" rotWithShape="0">
              <a:srgbClr val="0A140F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217920" y="210312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B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85292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615184" cy="1371600"/>
          </a:xfrm>
          <a:prstGeom prst="roundRect">
            <a:avLst>
              <a:gd name="adj" fmla="val 6667"/>
            </a:avLst>
          </a:prstGeom>
          <a:solidFill>
            <a:srgbClr val="0C1F17"/>
          </a:solidFill>
          <a:ln/>
          <a:effectLst>
            <a:outerShdw blurRad="76200" dist="25400" dir="5400000" algn="bl" rotWithShape="0">
              <a:srgbClr val="0A140F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006840" y="210312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B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06840" y="285292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de sécurité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615184" cy="2377440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04672" y="3776472"/>
            <a:ext cx="694944" cy="694944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06" y="3978006"/>
            <a:ext cx="291876" cy="2918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86384" y="46177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moderne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86384" y="50749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 et Supabase : web sécurisé, temps réel, sans logiciel à installer.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37560" y="3520440"/>
            <a:ext cx="2615184" cy="2377440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3593592" y="3776472"/>
            <a:ext cx="694944" cy="694944"/>
          </a:xfrm>
          <a:prstGeom prst="ellipse">
            <a:avLst/>
          </a:prstGeom>
          <a:solidFill>
            <a:srgbClr val="2F6FEC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126" y="3978006"/>
            <a:ext cx="291876" cy="2918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575304" y="46177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vérifiée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3575304" y="50749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tests automatisés au vert et build contrôlé à chaque évolution.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126480" y="3520440"/>
            <a:ext cx="2615184" cy="2377440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3"/>
          <p:cNvSpPr/>
          <p:nvPr/>
        </p:nvSpPr>
        <p:spPr>
          <a:xfrm>
            <a:off x="6382512" y="3776472"/>
            <a:ext cx="694944" cy="694944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046" y="3978006"/>
            <a:ext cx="291876" cy="29187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64224" y="46177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Évolutif &amp; réversible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364224" y="50749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additives : on enrichit sans casser l’existant.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915400" y="3520440"/>
            <a:ext cx="2615184" cy="2377440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7"/>
          <p:cNvSpPr/>
          <p:nvPr/>
        </p:nvSpPr>
        <p:spPr>
          <a:xfrm>
            <a:off x="9171432" y="3776472"/>
            <a:ext cx="694944" cy="694944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966" y="3978006"/>
            <a:ext cx="291876" cy="29187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153144" y="46177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Intégralement en français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9153144" y="50749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messages et exports en français, prêt pour l’administration.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75072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déploiement progressif et maîtrisé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5568" y="3108960"/>
            <a:ext cx="10058400" cy="0"/>
          </a:xfrm>
          <a:prstGeom prst="line">
            <a:avLst/>
          </a:prstGeom>
          <a:noFill/>
          <a:ln w="254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58368" y="2651760"/>
            <a:ext cx="914400" cy="914400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5836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38328" y="3675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Cadrage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6888" y="400507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Périmètre, référentiels et rôles définis avec vos équipes.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70048" y="2651760"/>
            <a:ext cx="914400" cy="914400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7004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50008" y="3675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Reprise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58568" y="400507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Sociétés, sites, artisans et stocks chargés dans la plateforme.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651760"/>
            <a:ext cx="914400" cy="914400"/>
          </a:xfrm>
          <a:prstGeom prst="ellipse">
            <a:avLst/>
          </a:prstGeom>
          <a:solidFill>
            <a:srgbClr val="10976B"/>
          </a:solidFill>
          <a:ln/>
          <a:effectLst>
            <a:outerShdw blurRad="76200" dist="25400" dir="5400000" algn="bl" rotWithShape="0">
              <a:srgbClr val="0A140F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68172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61688" y="3675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70248" y="400507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service des modules, module par module.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93408" y="2651760"/>
            <a:ext cx="914400" cy="914400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69340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73368" y="3675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81928" y="400507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Raccordement DGI / douanes et facture certifiée.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05088" y="2651760"/>
            <a:ext cx="914400" cy="914400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70508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85048" y="3675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93608" y="400507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par les utilisateurs et les approbateurs.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716768" y="2651760"/>
            <a:ext cx="914400" cy="914400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071676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396728" y="3675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305288" y="400507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nationale, support et maintenance continue.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09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phase est livrée, testée et validée avant la suivante : aucune rupture de service.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45398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474720"/>
            <a:ext cx="5120640" cy="5120640"/>
          </a:xfrm>
          <a:prstGeom prst="ellipse">
            <a:avLst/>
          </a:prstGeom>
          <a:solidFill>
            <a:srgbClr val="D79A0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0B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engager le déploiement maintenant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529584" cy="2286000"/>
          </a:xfrm>
          <a:prstGeom prst="roundRect">
            <a:avLst>
              <a:gd name="adj" fmla="val 4400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020824" y="2743200"/>
            <a:ext cx="768096" cy="768096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572" y="2965948"/>
            <a:ext cx="322600" cy="322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5760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Déjà opérationnelle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77824" y="40965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projet théorique : une plateforme construite, testée et démontrable dès aujourd’hui.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07408" y="2468880"/>
            <a:ext cx="3529584" cy="2286000"/>
          </a:xfrm>
          <a:prstGeom prst="roundRect">
            <a:avLst>
              <a:gd name="adj" fmla="val 4400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788152" y="2743200"/>
            <a:ext cx="768096" cy="768096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900" y="2965948"/>
            <a:ext cx="322600" cy="322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65760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Pensée pour le Burkina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45152" y="40965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Orpaillage, mines industrielles, fiscalité et français : conçue pour le contexte national.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74736" y="2468880"/>
            <a:ext cx="3529584" cy="2286000"/>
          </a:xfrm>
          <a:prstGeom prst="roundRect">
            <a:avLst>
              <a:gd name="adj" fmla="val 4400"/>
            </a:avLst>
          </a:prstGeom>
          <a:solidFill>
            <a:srgbClr val="12352A"/>
          </a:solidFill>
          <a:ln w="12700">
            <a:solidFill>
              <a:srgbClr val="2049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9555480" y="2743200"/>
            <a:ext cx="768096" cy="768096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8228" y="2965948"/>
            <a:ext cx="322600" cy="322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65760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Évolutive &amp; durable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0" y="40965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extensible et maintenue, prête à absorber de nouveaux besoins.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5074920"/>
            <a:ext cx="10908792" cy="960120"/>
          </a:xfrm>
          <a:prstGeom prst="roundRect">
            <a:avLst>
              <a:gd name="adj" fmla="val 11429"/>
            </a:avLst>
          </a:prstGeom>
          <a:solidFill>
            <a:srgbClr val="D79A00"/>
          </a:solidFill>
          <a:ln/>
          <a:effectLst>
            <a:outerShdw blurRad="101600" dist="38100" dir="5400000" algn="bl" rotWithShape="0">
              <a:srgbClr val="0A140F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6"/>
          <p:cNvSpPr/>
          <p:nvPr/>
        </p:nvSpPr>
        <p:spPr>
          <a:xfrm>
            <a:off x="1005840" y="507492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C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Signons le contrat de déploiement et de maintenance, et faisons de la traçabilité de l’or un standard national.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92889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852160" cy="5852160"/>
          </a:xfrm>
          <a:prstGeom prst="ellipse">
            <a:avLst/>
          </a:prstGeom>
          <a:solidFill>
            <a:srgbClr val="D79A0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463040" y="4389120"/>
            <a:ext cx="4206240" cy="4206240"/>
          </a:xfrm>
          <a:prstGeom prst="ellipse">
            <a:avLst/>
          </a:prstGeom>
          <a:solidFill>
            <a:srgbClr val="D79A0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632704" y="1554480"/>
            <a:ext cx="914400" cy="914400"/>
          </a:xfrm>
          <a:prstGeom prst="ellipse">
            <a:avLst/>
          </a:prstGeom>
          <a:solidFill>
            <a:srgbClr val="D79A00"/>
          </a:solidFill>
          <a:ln/>
          <a:effectLst>
            <a:outerShdw blurRad="76200" dist="25400" dir="5400000" algn="bl" rotWithShape="0">
              <a:srgbClr val="0A140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8196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79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SONASP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14400" y="37033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traçabilité de l’or, au service de la Nation.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: nous sommes prêts à démarrer.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175504" y="5029200"/>
            <a:ext cx="1828800" cy="18288"/>
          </a:xfrm>
          <a:prstGeom prst="rect">
            <a:avLst/>
          </a:prstGeom>
          <a:solidFill>
            <a:srgbClr val="D79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: Direction de la plateforme SONASP  ·  Ouagadougou, Burkina Faso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SONASP · Traçabilité nationale de l’or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87227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8ADFBA-38AB-4CC1-B084-BA93D4EEC70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33a8488-cf70-4074-b8bb-f5381ee07d9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1602</Words>
  <Application>Microsoft Office PowerPoint</Application>
  <PresentationFormat>Grand écran</PresentationFormat>
  <Paragraphs>269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SONASP — Présentation de la plateforme</dc:title>
  <dc:subject>PptxGenJS Presentation</dc:subject>
  <dc:creator>SONASP</dc:creator>
  <cp:lastModifiedBy>Romuald TIEGNAN</cp:lastModifiedBy>
  <cp:revision>2</cp:revision>
  <dcterms:created xsi:type="dcterms:W3CDTF">2026-08-20T05:56:13Z</dcterms:created>
  <dcterms:modified xsi:type="dcterms:W3CDTF">2026-08-20T06:19:43Z</dcterms:modified>
</cp:coreProperties>
</file>